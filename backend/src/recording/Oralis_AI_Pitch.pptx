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image" Target="../media/image-8-7.png"/><Relationship Id="rId8" Type="http://schemas.openxmlformats.org/officeDocument/2006/relationships/image" Target="../media/image-8-8.png"/><Relationship Id="rId9" Type="http://schemas.openxmlformats.org/officeDocument/2006/relationships/image" Target="../media/image-8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943600" cy="514350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2196F3"/>
          </a:solidFill>
          <a:ln w="12700">
            <a:solidFill>
              <a:srgbClr val="2196F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114800" y="-731520"/>
            <a:ext cx="3200400" cy="3200400"/>
          </a:xfrm>
          <a:prstGeom prst="ellipse">
            <a:avLst/>
          </a:prstGeom>
          <a:solidFill>
            <a:srgbClr val="2196F3">
              <a:alpha val="12000"/>
            </a:srgbClr>
          </a:solidFill>
          <a:ln w="12700">
            <a:solidFill>
              <a:srgbClr val="2196F3">
                <a:alpha val="2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0" y="3200400"/>
            <a:ext cx="2286000" cy="2286000"/>
          </a:xfrm>
          <a:prstGeom prst="ellipse">
            <a:avLst/>
          </a:prstGeom>
          <a:solidFill>
            <a:srgbClr val="64B5F6">
              <a:alpha val="12000"/>
            </a:srgbClr>
          </a:solidFill>
          <a:ln w="12700">
            <a:solidFill>
              <a:srgbClr val="64B5F6">
                <a:alpha val="20000"/>
              </a:srgbClr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0" y="548640"/>
            <a:ext cx="2011680" cy="2011680"/>
          </a:xfrm>
          <a:prstGeom prst="rect">
            <a:avLst/>
          </a:prstGeom>
        </p:spPr>
      </p:pic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0" y="2560320"/>
            <a:ext cx="1371600" cy="13716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274320" y="256032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400" kern="0" dirty="0">
                <a:solidFill>
                  <a:srgbClr val="64B5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BuildDream</a:t>
            </a:r>
            <a:endParaRPr lang="en-US" sz="1100" dirty="0"/>
          </a:p>
        </p:txBody>
      </p:sp>
      <p:sp>
        <p:nvSpPr>
          <p:cNvPr id="9" name="Text 5"/>
          <p:cNvSpPr/>
          <p:nvPr/>
        </p:nvSpPr>
        <p:spPr>
          <a:xfrm>
            <a:off x="274320" y="777240"/>
            <a:ext cx="5486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ORALIS</a:t>
            </a:r>
            <a:endParaRPr lang="en-US" sz="7200" dirty="0"/>
          </a:p>
        </p:txBody>
      </p:sp>
      <p:sp>
        <p:nvSpPr>
          <p:cNvPr id="10" name="Text 6"/>
          <p:cNvSpPr/>
          <p:nvPr/>
        </p:nvSpPr>
        <p:spPr>
          <a:xfrm>
            <a:off x="274320" y="1783080"/>
            <a:ext cx="5486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0" b="1" dirty="0">
                <a:solidFill>
                  <a:srgbClr val="2196F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AI</a:t>
            </a:r>
            <a:endParaRPr lang="en-US" sz="7200" dirty="0"/>
          </a:p>
        </p:txBody>
      </p:sp>
      <p:sp>
        <p:nvSpPr>
          <p:cNvPr id="11" name="Text 7"/>
          <p:cNvSpPr/>
          <p:nvPr/>
        </p:nvSpPr>
        <p:spPr>
          <a:xfrm>
            <a:off x="274320" y="2926080"/>
            <a:ext cx="5486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64B5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AI-Supported Web Platform for Oral Performance Assessment</a:t>
            </a:r>
            <a:endParaRPr lang="en-US" sz="1400" dirty="0"/>
          </a:p>
        </p:txBody>
      </p:sp>
      <p:sp>
        <p:nvSpPr>
          <p:cNvPr id="12" name="Shape 8"/>
          <p:cNvSpPr/>
          <p:nvPr/>
        </p:nvSpPr>
        <p:spPr>
          <a:xfrm>
            <a:off x="274320" y="3611880"/>
            <a:ext cx="2286000" cy="36576"/>
          </a:xfrm>
          <a:prstGeom prst="rect">
            <a:avLst/>
          </a:prstGeom>
          <a:solidFill>
            <a:srgbClr val="2196F3"/>
          </a:solidFill>
          <a:ln w="12700">
            <a:solidFill>
              <a:srgbClr val="2196F3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274320" y="384048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0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CCCA4 | PI-CDIO  •  Week 8  •  ESPRIT Engineering School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64B5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65760" y="868680"/>
            <a:ext cx="8412480" cy="182880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914400"/>
            <a:ext cx="82296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if every student could receive expert feedback</a:t>
            </a:r>
            <a:endParaRPr lang="en-US" sz="2200" dirty="0"/>
          </a:p>
          <a:p>
            <a:pPr algn="ctr"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 their oral presentation</a:t>
            </a:r>
            <a:endParaRPr lang="en-US" sz="2200" dirty="0"/>
          </a:p>
          <a:p>
            <a:pPr algn="ctr" indent="0" marL="0">
              <a:buNone/>
            </a:pPr>
            <a:r>
              <a:rPr lang="en-US" sz="2200" b="1" dirty="0">
                <a:solidFill>
                  <a:srgbClr val="FFD5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— instantly, objectively, at scale?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65760" y="2926080"/>
            <a:ext cx="2606040" cy="1783080"/>
          </a:xfrm>
          <a:prstGeom prst="rect">
            <a:avLst/>
          </a:prstGeom>
          <a:solidFill>
            <a:srgbClr val="FFFFFF"/>
          </a:solidFill>
          <a:ln w="25400">
            <a:solidFill>
              <a:srgbClr val="2196F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65760" y="3017520"/>
            <a:ext cx="2606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2196F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70%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365760" y="3703320"/>
            <a:ext cx="2606040" cy="9144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students never receive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detailed oral feedback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200400" y="2926080"/>
            <a:ext cx="2606040" cy="1783080"/>
          </a:xfrm>
          <a:prstGeom prst="rect">
            <a:avLst/>
          </a:prstGeom>
          <a:solidFill>
            <a:srgbClr val="FFFFFF"/>
          </a:solidFill>
          <a:ln w="25400">
            <a:solidFill>
              <a:srgbClr val="2196F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200400" y="3017520"/>
            <a:ext cx="2606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2196F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 in 3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3200400" y="3703320"/>
            <a:ext cx="2606040" cy="9144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instructors report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inconsistency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035040" y="2926080"/>
            <a:ext cx="2606040" cy="1783080"/>
          </a:xfrm>
          <a:prstGeom prst="rect">
            <a:avLst/>
          </a:prstGeom>
          <a:solidFill>
            <a:srgbClr val="FFFFFF"/>
          </a:solidFill>
          <a:ln w="25400">
            <a:solidFill>
              <a:srgbClr val="2196F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035040" y="3017520"/>
            <a:ext cx="2606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2196F3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6035040" y="3703320"/>
            <a:ext cx="2606040" cy="9144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oral assessment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platforms in Tunisia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A0A00"/>
          </a:solidFill>
          <a:ln w="12700">
            <a:solidFill>
              <a:srgbClr val="1A0A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FF8A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Oral skills are critical — yet assessment is broken.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20040" y="1554480"/>
            <a:ext cx="2697480" cy="3200400"/>
          </a:xfrm>
          <a:prstGeom prst="rect">
            <a:avLst/>
          </a:prstGeom>
          <a:solidFill>
            <a:srgbClr val="0E2040"/>
          </a:solidFill>
          <a:ln w="25400">
            <a:solidFill>
              <a:srgbClr val="FF704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554480"/>
            <a:ext cx="2697480" cy="320040"/>
          </a:xfrm>
          <a:prstGeom prst="rect">
            <a:avLst/>
          </a:prstGeom>
          <a:solidFill>
            <a:srgbClr val="FF7043"/>
          </a:solidFill>
          <a:ln w="12700">
            <a:solidFill>
              <a:srgbClr val="FF7043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1627632"/>
            <a:ext cx="201168" cy="20116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67512" y="1563624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Subjective &amp; Biased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429768" y="1965960"/>
            <a:ext cx="24688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64B5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Instructors rely on personal judgment. Evaluations vary depending on fatigue, mood, and criteria — same student, different scores.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3200400" y="1554480"/>
            <a:ext cx="2697480" cy="3200400"/>
          </a:xfrm>
          <a:prstGeom prst="rect">
            <a:avLst/>
          </a:prstGeom>
          <a:solidFill>
            <a:srgbClr val="0E2040"/>
          </a:solidFill>
          <a:ln w="25400">
            <a:solidFill>
              <a:srgbClr val="EF535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200400" y="1554480"/>
            <a:ext cx="2697480" cy="320040"/>
          </a:xfrm>
          <a:prstGeom prst="rect">
            <a:avLst/>
          </a:prstGeom>
          <a:solidFill>
            <a:srgbClr val="EF5350"/>
          </a:solidFill>
          <a:ln w="12700">
            <a:solidFill>
              <a:srgbClr val="EF5350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1840" y="1627632"/>
            <a:ext cx="201168" cy="20116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547872" y="1563624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Scalable Feedback</a:t>
            </a:r>
            <a:endParaRPr lang="en-US" sz="1100" dirty="0"/>
          </a:p>
        </p:txBody>
      </p:sp>
      <p:sp>
        <p:nvSpPr>
          <p:cNvPr id="14" name="Text 10"/>
          <p:cNvSpPr/>
          <p:nvPr/>
        </p:nvSpPr>
        <p:spPr>
          <a:xfrm>
            <a:off x="3310128" y="1965960"/>
            <a:ext cx="24688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64B5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a class of 40+ students, detailed feedback is impossible. Most receive only a final grade — no insight on what to improve.</a:t>
            </a:r>
            <a:endParaRPr lang="en-US" sz="1050" dirty="0"/>
          </a:p>
        </p:txBody>
      </p:sp>
      <p:sp>
        <p:nvSpPr>
          <p:cNvPr id="15" name="Shape 11"/>
          <p:cNvSpPr/>
          <p:nvPr/>
        </p:nvSpPr>
        <p:spPr>
          <a:xfrm>
            <a:off x="6080760" y="1554480"/>
            <a:ext cx="2697480" cy="3200400"/>
          </a:xfrm>
          <a:prstGeom prst="rect">
            <a:avLst/>
          </a:prstGeom>
          <a:solidFill>
            <a:srgbClr val="0E2040"/>
          </a:solidFill>
          <a:ln w="25400">
            <a:solidFill>
              <a:srgbClr val="AB47B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6080760" y="1554480"/>
            <a:ext cx="2697480" cy="320040"/>
          </a:xfrm>
          <a:prstGeom prst="rect">
            <a:avLst/>
          </a:prstGeom>
          <a:solidFill>
            <a:srgbClr val="AB47BC"/>
          </a:solidFill>
          <a:ln w="12700">
            <a:solidFill>
              <a:srgbClr val="AB47BC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200" y="1627632"/>
            <a:ext cx="201168" cy="201168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428232" y="1563624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Progress Tracking</a:t>
            </a:r>
            <a:endParaRPr lang="en-US" sz="1100" dirty="0"/>
          </a:p>
        </p:txBody>
      </p:sp>
      <p:sp>
        <p:nvSpPr>
          <p:cNvPr id="19" name="Text 14"/>
          <p:cNvSpPr/>
          <p:nvPr/>
        </p:nvSpPr>
        <p:spPr>
          <a:xfrm>
            <a:off x="6190488" y="1965960"/>
            <a:ext cx="24688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64B5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presentation is assessed as a one-off event. Students cannot see how their oral skills evolve over time.</a:t>
            </a:r>
            <a:endParaRPr lang="en-US" sz="1050" dirty="0"/>
          </a:p>
        </p:txBody>
      </p:sp>
      <p:sp>
        <p:nvSpPr>
          <p:cNvPr id="20" name="Shape 15"/>
          <p:cNvSpPr/>
          <p:nvPr/>
        </p:nvSpPr>
        <p:spPr>
          <a:xfrm>
            <a:off x="0" y="4754880"/>
            <a:ext cx="9144000" cy="365760"/>
          </a:xfrm>
          <a:prstGeom prst="rect">
            <a:avLst/>
          </a:prstGeom>
          <a:solidFill>
            <a:srgbClr val="FF7043">
              <a:alpha val="85000"/>
            </a:srgbClr>
          </a:solidFill>
          <a:ln w="12700">
            <a:solidFill>
              <a:srgbClr val="FF7043">
                <a:alpha val="85000"/>
              </a:srgbClr>
            </a:solidFill>
            <a:prstDash val="solid"/>
          </a:ln>
        </p:spPr>
      </p:sp>
      <p:sp>
        <p:nvSpPr>
          <p:cNvPr id="21" name="Text 16"/>
          <p:cNvSpPr/>
          <p:nvPr/>
        </p:nvSpPr>
        <p:spPr>
          <a:xfrm>
            <a:off x="365760" y="4773168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semester without a solution, thousands of students lose the chance to meaningfully improve their oral communication.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64B5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SOLUTION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65760" y="822960"/>
            <a:ext cx="8412480" cy="685800"/>
          </a:xfrm>
          <a:prstGeom prst="rect">
            <a:avLst/>
          </a:prstGeom>
          <a:solidFill>
            <a:srgbClr val="2196F3"/>
          </a:solidFill>
          <a:ln w="12700">
            <a:solidFill>
              <a:srgbClr val="2196F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841248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Oralis-AI — The Human-in-the-Loop Oral Assessment Platform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274320" y="1691640"/>
            <a:ext cx="2286000" cy="2926080"/>
          </a:xfrm>
          <a:prstGeom prst="rect">
            <a:avLst/>
          </a:prstGeom>
          <a:solidFill>
            <a:srgbClr val="FBE9E7"/>
          </a:solidFill>
          <a:ln w="19050">
            <a:solidFill>
              <a:srgbClr val="FF704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274320" y="1691640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7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65760" y="2148840"/>
            <a:ext cx="21031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Manual, subjective grading
</a:t>
            </a:r>
            <a:pPr algn="l" indent="0" marL="0">
              <a:buNone/>
            </a:pPr>
            <a:r>
              <a:rPr lang="en-US" sz="105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No instant feedback
</a:t>
            </a:r>
            <a:pPr algn="l" indent="0" marL="0">
              <a:buNone/>
            </a:pPr>
            <a:r>
              <a:rPr lang="en-US" sz="105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Instructor overwhelmed
</a:t>
            </a:r>
            <a:pPr algn="l" indent="0" marL="0">
              <a:buNone/>
            </a:pPr>
            <a:r>
              <a:rPr lang="en-US" sz="105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No progress visibility</a:t>
            </a:r>
            <a:endParaRPr lang="en-US" sz="105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651760" y="2834640"/>
            <a:ext cx="457200" cy="457200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3200400" y="1691640"/>
            <a:ext cx="2834640" cy="2926080"/>
          </a:xfrm>
          <a:prstGeom prst="rect">
            <a:avLst/>
          </a:prstGeom>
          <a:solidFill>
            <a:srgbClr val="1B3A6B"/>
          </a:solidFill>
          <a:ln w="31750">
            <a:solidFill>
              <a:srgbClr val="2196F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3200400" y="169164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D54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ORALIS-AI</a:t>
            </a:r>
            <a:endParaRPr lang="en-US" sz="1400" dirty="0"/>
          </a:p>
        </p:txBody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51960" y="2212848"/>
            <a:ext cx="731520" cy="73152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291840" y="3063240"/>
            <a:ext cx="265176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B5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Speech Analysis
</a:t>
            </a:r>
            <a:pPr algn="ctr" indent="0" marL="0">
              <a:buNone/>
            </a:pPr>
            <a:r>
              <a:rPr lang="en-US" sz="1000" dirty="0">
                <a:solidFill>
                  <a:srgbClr val="64B5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Recording
</a:t>
            </a:r>
            <a:pPr algn="ctr" indent="0" marL="0">
              <a:buNone/>
            </a:pPr>
            <a:r>
              <a:rPr lang="en-US" sz="1000" dirty="0">
                <a:solidFill>
                  <a:srgbClr val="64B5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Rubrics
</a:t>
            </a:r>
            <a:pPr algn="ctr" indent="0" marL="0">
              <a:buNone/>
            </a:pPr>
            <a:r>
              <a:rPr lang="en-US" sz="1000" dirty="0">
                <a:solidFill>
                  <a:srgbClr val="64B5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 Dashboard
</a:t>
            </a:r>
            <a:pPr algn="ctr" indent="0" marL="0">
              <a:buNone/>
            </a:pPr>
            <a:r>
              <a:rPr lang="en-US" sz="1000" dirty="0">
                <a:solidFill>
                  <a:srgbClr val="64B5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Instructor Override</a:t>
            </a:r>
            <a:endParaRPr lang="en-US" sz="1000" dirty="0"/>
          </a:p>
        </p:txBody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6480" y="2834640"/>
            <a:ext cx="457200" cy="457200"/>
          </a:xfrm>
          <a:prstGeom prst="rect">
            <a:avLst/>
          </a:prstGeom>
        </p:spPr>
      </p:pic>
      <p:sp>
        <p:nvSpPr>
          <p:cNvPr id="15" name="Shape 10"/>
          <p:cNvSpPr/>
          <p:nvPr/>
        </p:nvSpPr>
        <p:spPr>
          <a:xfrm>
            <a:off x="6675120" y="1691640"/>
            <a:ext cx="2148840" cy="2926080"/>
          </a:xfrm>
          <a:prstGeom prst="rect">
            <a:avLst/>
          </a:prstGeom>
          <a:solidFill>
            <a:srgbClr val="E8F5E9"/>
          </a:solidFill>
          <a:ln w="19050">
            <a:solidFill>
              <a:srgbClr val="4CAF5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Text 11"/>
          <p:cNvSpPr/>
          <p:nvPr/>
        </p:nvSpPr>
        <p:spPr>
          <a:xfrm>
            <a:off x="6675120" y="1691640"/>
            <a:ext cx="2148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CA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</a:t>
            </a:r>
            <a:endParaRPr lang="en-US" sz="1100" dirty="0"/>
          </a:p>
        </p:txBody>
      </p:sp>
      <p:sp>
        <p:nvSpPr>
          <p:cNvPr id="17" name="Text 12"/>
          <p:cNvSpPr/>
          <p:nvPr/>
        </p:nvSpPr>
        <p:spPr>
          <a:xfrm>
            <a:off x="6766560" y="2148840"/>
            <a:ext cx="19659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Objective AI metrics
</a:t>
            </a:r>
            <a:pPr algn="l" indent="0" marL="0">
              <a:buNone/>
            </a:pPr>
            <a:r>
              <a:rPr lang="en-US" sz="105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Instant feedback
</a:t>
            </a:r>
            <a:pPr algn="l" indent="0" marL="0">
              <a:buNone/>
            </a:pPr>
            <a:r>
              <a:rPr lang="en-US" sz="105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Instructor empowered
</a:t>
            </a:r>
            <a:pPr algn="l" indent="0" marL="0">
              <a:buNone/>
            </a:pPr>
            <a:r>
              <a:rPr lang="en-US" sz="105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Track skill growth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64B5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FEATURES &amp; BENEFITS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274320" y="868680"/>
            <a:ext cx="2788920" cy="1920240"/>
          </a:xfrm>
          <a:prstGeom prst="rect">
            <a:avLst/>
          </a:prstGeom>
          <a:solidFill>
            <a:srgbClr val="0E2040"/>
          </a:solidFill>
          <a:ln w="19050">
            <a:solidFill>
              <a:srgbClr val="2196F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868680"/>
            <a:ext cx="109728" cy="1920240"/>
          </a:xfrm>
          <a:prstGeom prst="rect">
            <a:avLst/>
          </a:prstGeom>
          <a:solidFill>
            <a:srgbClr val="2196F3"/>
          </a:solidFill>
          <a:ln w="12700">
            <a:solidFill>
              <a:srgbClr val="2196F3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5488" y="1051560"/>
            <a:ext cx="384048" cy="38404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32688" y="1033272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Speech Analysis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475488" y="1527048"/>
            <a:ext cx="248716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64B5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Reduces subjective bias. Measures fluency, pacing, filler words, confidence &amp; pronunciation objectively in &lt; 2 min.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3218688" y="868680"/>
            <a:ext cx="2788920" cy="1920240"/>
          </a:xfrm>
          <a:prstGeom prst="rect">
            <a:avLst/>
          </a:prstGeom>
          <a:solidFill>
            <a:srgbClr val="0E2040"/>
          </a:solidFill>
          <a:ln w="19050">
            <a:solidFill>
              <a:srgbClr val="4CAF5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218688" y="868680"/>
            <a:ext cx="109728" cy="1920240"/>
          </a:xfrm>
          <a:prstGeom prst="rect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19856" y="1051560"/>
            <a:ext cx="384048" cy="38404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877056" y="1033272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Rubrics</a:t>
            </a:r>
            <a:endParaRPr lang="en-US" sz="1150" dirty="0"/>
          </a:p>
        </p:txBody>
      </p:sp>
      <p:sp>
        <p:nvSpPr>
          <p:cNvPr id="13" name="Text 9"/>
          <p:cNvSpPr/>
          <p:nvPr/>
        </p:nvSpPr>
        <p:spPr>
          <a:xfrm>
            <a:off x="3419856" y="1527048"/>
            <a:ext cx="248716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64B5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Instructors design rubrics aligned to course goals. AI insights displayed alongside manual grading — best of both worlds.</a:t>
            </a:r>
            <a:endParaRPr lang="en-US" sz="950" dirty="0"/>
          </a:p>
        </p:txBody>
      </p:sp>
      <p:sp>
        <p:nvSpPr>
          <p:cNvPr id="14" name="Shape 10"/>
          <p:cNvSpPr/>
          <p:nvPr/>
        </p:nvSpPr>
        <p:spPr>
          <a:xfrm>
            <a:off x="6163056" y="868680"/>
            <a:ext cx="2788920" cy="1920240"/>
          </a:xfrm>
          <a:prstGeom prst="rect">
            <a:avLst/>
          </a:prstGeom>
          <a:solidFill>
            <a:srgbClr val="0E2040"/>
          </a:solidFill>
          <a:ln w="19050">
            <a:solidFill>
              <a:srgbClr val="FF980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6163056" y="868680"/>
            <a:ext cx="109728" cy="1920240"/>
          </a:xfrm>
          <a:prstGeom prst="rect">
            <a:avLst/>
          </a:prstGeom>
          <a:solidFill>
            <a:srgbClr val="FF9800"/>
          </a:solidFill>
          <a:ln w="12700">
            <a:solidFill>
              <a:srgbClr val="FF9800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64224" y="1051560"/>
            <a:ext cx="384048" cy="38404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821424" y="1033272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 Dashboard</a:t>
            </a:r>
            <a:endParaRPr lang="en-US" sz="1150" dirty="0"/>
          </a:p>
        </p:txBody>
      </p:sp>
      <p:sp>
        <p:nvSpPr>
          <p:cNvPr id="18" name="Text 13"/>
          <p:cNvSpPr/>
          <p:nvPr/>
        </p:nvSpPr>
        <p:spPr>
          <a:xfrm>
            <a:off x="6364224" y="1527048"/>
            <a:ext cx="248716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64B5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track skill growth over a full semester. Turns one-off grading into a continuous improvement roadmap.</a:t>
            </a:r>
            <a:endParaRPr lang="en-US" sz="950" dirty="0"/>
          </a:p>
        </p:txBody>
      </p:sp>
      <p:sp>
        <p:nvSpPr>
          <p:cNvPr id="19" name="Shape 14"/>
          <p:cNvSpPr/>
          <p:nvPr/>
        </p:nvSpPr>
        <p:spPr>
          <a:xfrm>
            <a:off x="274320" y="2926080"/>
            <a:ext cx="2788920" cy="1920240"/>
          </a:xfrm>
          <a:prstGeom prst="rect">
            <a:avLst/>
          </a:prstGeom>
          <a:solidFill>
            <a:srgbClr val="0E2040"/>
          </a:solidFill>
          <a:ln w="19050">
            <a:solidFill>
              <a:srgbClr val="9C27B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274320" y="2926080"/>
            <a:ext cx="109728" cy="1920240"/>
          </a:xfrm>
          <a:prstGeom prst="rect">
            <a:avLst/>
          </a:prstGeom>
          <a:solidFill>
            <a:srgbClr val="9C27B0"/>
          </a:solidFill>
          <a:ln w="12700">
            <a:solidFill>
              <a:srgbClr val="9C27B0"/>
            </a:solidFill>
            <a:prstDash val="solid"/>
          </a:ln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5488" y="3108960"/>
            <a:ext cx="384048" cy="384048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932688" y="3090672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Flexible Submissions</a:t>
            </a:r>
            <a:endParaRPr lang="en-US" sz="1150" dirty="0"/>
          </a:p>
        </p:txBody>
      </p:sp>
      <p:sp>
        <p:nvSpPr>
          <p:cNvPr id="23" name="Text 17"/>
          <p:cNvSpPr/>
          <p:nvPr/>
        </p:nvSpPr>
        <p:spPr>
          <a:xfrm>
            <a:off x="475488" y="3584448"/>
            <a:ext cx="248716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64B5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 live in-class or upload audio/video. Supports MP3, WAV, MP4, AVI — no friction, any device.</a:t>
            </a:r>
            <a:endParaRPr lang="en-US" sz="950" dirty="0"/>
          </a:p>
        </p:txBody>
      </p:sp>
      <p:sp>
        <p:nvSpPr>
          <p:cNvPr id="24" name="Shape 18"/>
          <p:cNvSpPr/>
          <p:nvPr/>
        </p:nvSpPr>
        <p:spPr>
          <a:xfrm>
            <a:off x="3218688" y="2926080"/>
            <a:ext cx="2788920" cy="1920240"/>
          </a:xfrm>
          <a:prstGeom prst="rect">
            <a:avLst/>
          </a:prstGeom>
          <a:solidFill>
            <a:srgbClr val="0E2040"/>
          </a:solidFill>
          <a:ln w="19050">
            <a:solidFill>
              <a:srgbClr val="00BCD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3218688" y="2926080"/>
            <a:ext cx="109728" cy="1920240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19856" y="3108960"/>
            <a:ext cx="384048" cy="384048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3877056" y="3090672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Peer Forum</a:t>
            </a:r>
            <a:endParaRPr lang="en-US" sz="1150" dirty="0"/>
          </a:p>
        </p:txBody>
      </p:sp>
      <p:sp>
        <p:nvSpPr>
          <p:cNvPr id="28" name="Text 21"/>
          <p:cNvSpPr/>
          <p:nvPr/>
        </p:nvSpPr>
        <p:spPr>
          <a:xfrm>
            <a:off x="3419856" y="3584448"/>
            <a:ext cx="248716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64B5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share practice tips and support each other. Fosters community learning beyond the classroom.</a:t>
            </a:r>
            <a:endParaRPr lang="en-US" sz="950" dirty="0"/>
          </a:p>
        </p:txBody>
      </p:sp>
      <p:sp>
        <p:nvSpPr>
          <p:cNvPr id="29" name="Shape 22"/>
          <p:cNvSpPr/>
          <p:nvPr/>
        </p:nvSpPr>
        <p:spPr>
          <a:xfrm>
            <a:off x="6163056" y="2926080"/>
            <a:ext cx="2788920" cy="1920240"/>
          </a:xfrm>
          <a:prstGeom prst="rect">
            <a:avLst/>
          </a:prstGeom>
          <a:solidFill>
            <a:srgbClr val="0E2040"/>
          </a:solidFill>
          <a:ln w="19050">
            <a:solidFill>
              <a:srgbClr val="E91E6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6163056" y="2926080"/>
            <a:ext cx="109728" cy="1920240"/>
          </a:xfrm>
          <a:prstGeom prst="rect">
            <a:avLst/>
          </a:prstGeom>
          <a:solidFill>
            <a:srgbClr val="E91E63"/>
          </a:solidFill>
          <a:ln w="12700">
            <a:solidFill>
              <a:srgbClr val="E91E63"/>
            </a:solidFill>
            <a:prstDash val="solid"/>
          </a:ln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64224" y="3108960"/>
            <a:ext cx="384048" cy="384048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6821424" y="3090672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GDPR-Compliant &amp; Secure</a:t>
            </a:r>
            <a:endParaRPr lang="en-US" sz="1150" dirty="0"/>
          </a:p>
        </p:txBody>
      </p:sp>
      <p:sp>
        <p:nvSpPr>
          <p:cNvPr id="33" name="Text 25"/>
          <p:cNvSpPr/>
          <p:nvPr/>
        </p:nvSpPr>
        <p:spPr>
          <a:xfrm>
            <a:off x="6364224" y="3584448"/>
            <a:ext cx="248716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64B5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Bcrypt hashing, JWT auth, role-based access, WCAG 2.1 AA accessibility. Ethical AI with instructor final authority.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64B5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ANALYSIS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Competitive Landscape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65760" y="1280160"/>
            <a:ext cx="457200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90A4B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280160"/>
            <a:ext cx="73152" cy="502920"/>
          </a:xfrm>
          <a:prstGeom prst="rect">
            <a:avLst/>
          </a:prstGeom>
          <a:solidFill>
            <a:srgbClr val="EF5350"/>
          </a:solidFill>
          <a:ln w="12700">
            <a:solidFill>
              <a:srgbClr val="EF535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28016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Speech Evaluator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2423160" y="1280160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feedback — no academic workflow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65760" y="1874520"/>
            <a:ext cx="457200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90A4B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5760" y="1874520"/>
            <a:ext cx="73152" cy="502920"/>
          </a:xfrm>
          <a:prstGeom prst="rect">
            <a:avLst/>
          </a:prstGeom>
          <a:solidFill>
            <a:srgbClr val="EF5350"/>
          </a:solidFill>
          <a:ln w="12700">
            <a:solidFill>
              <a:srgbClr val="EF535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187452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SmallTalk2Me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423160" y="1874520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Language-focused — not for presentations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65760" y="2468880"/>
            <a:ext cx="457200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90A4B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2468880"/>
            <a:ext cx="73152" cy="502920"/>
          </a:xfrm>
          <a:prstGeom prst="rect">
            <a:avLst/>
          </a:prstGeom>
          <a:solidFill>
            <a:srgbClr val="EF5350"/>
          </a:solidFill>
          <a:ln w="12700">
            <a:solidFill>
              <a:srgbClr val="EF535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246888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ORAI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2423160" y="2468880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 — no real-time, no rubrics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365760" y="3063240"/>
            <a:ext cx="457200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90A4B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65760" y="3063240"/>
            <a:ext cx="73152" cy="502920"/>
          </a:xfrm>
          <a:prstGeom prst="rect">
            <a:avLst/>
          </a:prstGeom>
          <a:solidFill>
            <a:srgbClr val="EF5350"/>
          </a:solidFill>
          <a:ln w="12700">
            <a:solidFill>
              <a:srgbClr val="EF535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8640" y="306324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Moodle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2423160" y="3063240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LMS — no AI speech analysis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365760" y="3657600"/>
            <a:ext cx="457200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90A4B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65760" y="3657600"/>
            <a:ext cx="73152" cy="502920"/>
          </a:xfrm>
          <a:prstGeom prst="rect">
            <a:avLst/>
          </a:prstGeom>
          <a:solidFill>
            <a:srgbClr val="EF5350"/>
          </a:solidFill>
          <a:ln w="12700">
            <a:solidFill>
              <a:srgbClr val="EF535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48640" y="365760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Tunisian platforms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2423160" y="3657600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Moodle-based — 100% manual evaluation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5212080" y="777240"/>
            <a:ext cx="3611880" cy="4114800"/>
          </a:xfrm>
          <a:prstGeom prst="rect">
            <a:avLst/>
          </a:prstGeom>
          <a:solidFill>
            <a:srgbClr val="1B3A6B"/>
          </a:solidFill>
          <a:ln w="25400">
            <a:solidFill>
              <a:srgbClr val="2196F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5303520" y="850392"/>
            <a:ext cx="3429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D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Oralis-AI Wins</a:t>
            </a:r>
            <a:endParaRPr lang="en-US" sz="1300" dirty="0"/>
          </a:p>
        </p:txBody>
      </p:sp>
      <p:pic>
        <p:nvPicPr>
          <p:cNvPr id="2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49240" y="1444752"/>
            <a:ext cx="256032" cy="256032"/>
          </a:xfrm>
          <a:prstGeom prst="rect">
            <a:avLst/>
          </a:prstGeom>
        </p:spPr>
      </p:pic>
      <p:sp>
        <p:nvSpPr>
          <p:cNvPr id="28" name="Text 25"/>
          <p:cNvSpPr/>
          <p:nvPr/>
        </p:nvSpPr>
        <p:spPr>
          <a:xfrm>
            <a:off x="5687568" y="1399032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B5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platform combining AI analysis + instructor rubrics</a:t>
            </a:r>
            <a:endParaRPr lang="en-US" sz="1000" dirty="0"/>
          </a:p>
        </p:txBody>
      </p:sp>
      <p:pic>
        <p:nvPicPr>
          <p:cNvPr id="2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9240" y="2020824"/>
            <a:ext cx="256032" cy="256032"/>
          </a:xfrm>
          <a:prstGeom prst="rect">
            <a:avLst/>
          </a:prstGeom>
        </p:spPr>
      </p:pic>
      <p:sp>
        <p:nvSpPr>
          <p:cNvPr id="30" name="Text 26"/>
          <p:cNvSpPr/>
          <p:nvPr/>
        </p:nvSpPr>
        <p:spPr>
          <a:xfrm>
            <a:off x="5687568" y="1975104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B5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+ upload flexibility for any classroom</a:t>
            </a:r>
            <a:endParaRPr lang="en-US" sz="1000" dirty="0"/>
          </a:p>
        </p:txBody>
      </p:sp>
      <p:pic>
        <p:nvPicPr>
          <p:cNvPr id="3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49240" y="2596896"/>
            <a:ext cx="256032" cy="256032"/>
          </a:xfrm>
          <a:prstGeom prst="rect">
            <a:avLst/>
          </a:prstGeom>
        </p:spPr>
      </p:pic>
      <p:sp>
        <p:nvSpPr>
          <p:cNvPr id="32" name="Text 27"/>
          <p:cNvSpPr/>
          <p:nvPr/>
        </p:nvSpPr>
        <p:spPr>
          <a:xfrm>
            <a:off x="5687568" y="2551176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B5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Longitudinal progress tracking over a semester</a:t>
            </a:r>
            <a:endParaRPr lang="en-US" sz="1000" dirty="0"/>
          </a:p>
        </p:txBody>
      </p:sp>
      <p:pic>
        <p:nvPicPr>
          <p:cNvPr id="3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49240" y="3172968"/>
            <a:ext cx="256032" cy="256032"/>
          </a:xfrm>
          <a:prstGeom prst="rect">
            <a:avLst/>
          </a:prstGeom>
        </p:spPr>
      </p:pic>
      <p:sp>
        <p:nvSpPr>
          <p:cNvPr id="34" name="Text 28"/>
          <p:cNvSpPr/>
          <p:nvPr/>
        </p:nvSpPr>
        <p:spPr>
          <a:xfrm>
            <a:off x="5687568" y="3127248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B5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for Tunisian higher education context</a:t>
            </a:r>
            <a:endParaRPr lang="en-US" sz="1000" dirty="0"/>
          </a:p>
        </p:txBody>
      </p:sp>
      <p:pic>
        <p:nvPicPr>
          <p:cNvPr id="3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49240" y="3749040"/>
            <a:ext cx="256032" cy="256032"/>
          </a:xfrm>
          <a:prstGeom prst="rect">
            <a:avLst/>
          </a:prstGeom>
        </p:spPr>
      </p:pic>
      <p:sp>
        <p:nvSpPr>
          <p:cNvPr id="36" name="Text 29"/>
          <p:cNvSpPr/>
          <p:nvPr/>
        </p:nvSpPr>
        <p:spPr>
          <a:xfrm>
            <a:off x="5687568" y="370332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B5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GDPR-compliant + WCAG 2.1 AA accessibility</a:t>
            </a:r>
            <a:endParaRPr lang="en-US" sz="1000" dirty="0"/>
          </a:p>
        </p:txBody>
      </p:sp>
      <p:pic>
        <p:nvPicPr>
          <p:cNvPr id="3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49240" y="4325112"/>
            <a:ext cx="256032" cy="256032"/>
          </a:xfrm>
          <a:prstGeom prst="rect">
            <a:avLst/>
          </a:prstGeom>
        </p:spPr>
      </p:pic>
      <p:sp>
        <p:nvSpPr>
          <p:cNvPr id="38" name="Text 30"/>
          <p:cNvSpPr/>
          <p:nvPr/>
        </p:nvSpPr>
        <p:spPr>
          <a:xfrm>
            <a:off x="5687568" y="4279392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B5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Human-in-the-loop: instructor retains full authority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64B5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 PLAN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365760" y="74980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D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65760" y="1170432"/>
            <a:ext cx="2743200" cy="402336"/>
          </a:xfrm>
          <a:prstGeom prst="rect">
            <a:avLst/>
          </a:prstGeom>
          <a:solidFill>
            <a:srgbClr val="0E2040"/>
          </a:solidFill>
          <a:ln w="12700">
            <a:solidFill>
              <a:srgbClr val="2196F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170432"/>
            <a:ext cx="868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196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Frontend: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1325880" y="1170432"/>
            <a:ext cx="1691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B5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18 + Redux + Tailwind CSS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291840" y="1170432"/>
            <a:ext cx="2743200" cy="402336"/>
          </a:xfrm>
          <a:prstGeom prst="rect">
            <a:avLst/>
          </a:prstGeom>
          <a:solidFill>
            <a:srgbClr val="0E2040"/>
          </a:solidFill>
          <a:ln w="12700">
            <a:solidFill>
              <a:srgbClr val="2196F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383280" y="1170432"/>
            <a:ext cx="868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196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Backend: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4251960" y="1170432"/>
            <a:ext cx="1691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B5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NestJS (Node.js) + JWT + WebSockets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6217920" y="1170432"/>
            <a:ext cx="2743200" cy="402336"/>
          </a:xfrm>
          <a:prstGeom prst="rect">
            <a:avLst/>
          </a:prstGeom>
          <a:solidFill>
            <a:srgbClr val="0E2040"/>
          </a:solidFill>
          <a:ln w="12700">
            <a:solidFill>
              <a:srgbClr val="2196F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309360" y="1170432"/>
            <a:ext cx="868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196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Database: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7178040" y="1170432"/>
            <a:ext cx="1691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B5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 + Mongoose ODM + GridFS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65760" y="1645920"/>
            <a:ext cx="2743200" cy="402336"/>
          </a:xfrm>
          <a:prstGeom prst="rect">
            <a:avLst/>
          </a:prstGeom>
          <a:solidFill>
            <a:srgbClr val="0E2040"/>
          </a:solidFill>
          <a:ln w="12700">
            <a:solidFill>
              <a:srgbClr val="2196F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1645920"/>
            <a:ext cx="868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196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Service: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1325880" y="1645920"/>
            <a:ext cx="1691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B5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+ Whisper / Google STT + ML Models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3291840" y="1645920"/>
            <a:ext cx="2743200" cy="402336"/>
          </a:xfrm>
          <a:prstGeom prst="rect">
            <a:avLst/>
          </a:prstGeom>
          <a:solidFill>
            <a:srgbClr val="0E2040"/>
          </a:solidFill>
          <a:ln w="12700">
            <a:solidFill>
              <a:srgbClr val="2196F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383280" y="1645920"/>
            <a:ext cx="868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196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DevOps: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4251960" y="1645920"/>
            <a:ext cx="1691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B5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+ Jenkins + Kubernetes + GitHub Actions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365760" y="22128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D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Roadmap (14 Weeks)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74320" y="2651760"/>
            <a:ext cx="1170432" cy="2194560"/>
          </a:xfrm>
          <a:prstGeom prst="rect">
            <a:avLst/>
          </a:prstGeom>
          <a:solidFill>
            <a:srgbClr val="0E2040"/>
          </a:solidFill>
          <a:ln w="19050">
            <a:solidFill>
              <a:srgbClr val="607D8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274320" y="2651760"/>
            <a:ext cx="1170432" cy="292608"/>
          </a:xfrm>
          <a:prstGeom prst="rect">
            <a:avLst/>
          </a:prstGeom>
          <a:solidFill>
            <a:srgbClr val="607D8B"/>
          </a:solidFill>
          <a:ln w="12700">
            <a:solidFill>
              <a:srgbClr val="607D8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74320" y="2651760"/>
            <a:ext cx="11704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0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274320" y="2999232"/>
            <a:ext cx="11704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B5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 1–4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274320" y="3401568"/>
            <a:ext cx="1170432" cy="13716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Planning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1499616" y="2651760"/>
            <a:ext cx="1170432" cy="2194560"/>
          </a:xfrm>
          <a:prstGeom prst="rect">
            <a:avLst/>
          </a:prstGeom>
          <a:solidFill>
            <a:srgbClr val="0E2040"/>
          </a:solidFill>
          <a:ln w="19050">
            <a:solidFill>
              <a:srgbClr val="2196F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1499616" y="2651760"/>
            <a:ext cx="1170432" cy="292608"/>
          </a:xfrm>
          <a:prstGeom prst="rect">
            <a:avLst/>
          </a:prstGeom>
          <a:solidFill>
            <a:srgbClr val="2196F3"/>
          </a:solidFill>
          <a:ln w="12700">
            <a:solidFill>
              <a:srgbClr val="2196F3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499616" y="2651760"/>
            <a:ext cx="11704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1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1499616" y="2999232"/>
            <a:ext cx="11704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B5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 4–5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1499616" y="3401568"/>
            <a:ext cx="1170432" cy="13716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&amp; Roles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2724912" y="2651760"/>
            <a:ext cx="1170432" cy="2194560"/>
          </a:xfrm>
          <a:prstGeom prst="rect">
            <a:avLst/>
          </a:prstGeom>
          <a:solidFill>
            <a:srgbClr val="0E2040"/>
          </a:solidFill>
          <a:ln w="19050">
            <a:solidFill>
              <a:srgbClr val="4CAF5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2724912" y="2651760"/>
            <a:ext cx="1170432" cy="292608"/>
          </a:xfrm>
          <a:prstGeom prst="rect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724912" y="2651760"/>
            <a:ext cx="11704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2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2724912" y="2999232"/>
            <a:ext cx="11704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B5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 5–7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2724912" y="3401568"/>
            <a:ext cx="1170432" cy="13716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Submissions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3950208" y="2651760"/>
            <a:ext cx="1170432" cy="2194560"/>
          </a:xfrm>
          <a:prstGeom prst="rect">
            <a:avLst/>
          </a:prstGeom>
          <a:solidFill>
            <a:srgbClr val="0E2040"/>
          </a:solidFill>
          <a:ln w="19050">
            <a:solidFill>
              <a:srgbClr val="FF980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3950208" y="2651760"/>
            <a:ext cx="1170432" cy="292608"/>
          </a:xfrm>
          <a:prstGeom prst="rect">
            <a:avLst/>
          </a:prstGeom>
          <a:solidFill>
            <a:srgbClr val="FF9800"/>
          </a:solidFill>
          <a:ln w="12700">
            <a:solidFill>
              <a:srgbClr val="FF980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950208" y="2651760"/>
            <a:ext cx="11704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3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3950208" y="2999232"/>
            <a:ext cx="11704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B5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 8–9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3950208" y="3401568"/>
            <a:ext cx="1170432" cy="13716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Recording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5175504" y="2651760"/>
            <a:ext cx="1170432" cy="2194560"/>
          </a:xfrm>
          <a:prstGeom prst="rect">
            <a:avLst/>
          </a:prstGeom>
          <a:solidFill>
            <a:srgbClr val="0E2040"/>
          </a:solidFill>
          <a:ln w="19050">
            <a:solidFill>
              <a:srgbClr val="9C27B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5175504" y="2651760"/>
            <a:ext cx="1170432" cy="292608"/>
          </a:xfrm>
          <a:prstGeom prst="rect">
            <a:avLst/>
          </a:prstGeom>
          <a:solidFill>
            <a:srgbClr val="9C27B0"/>
          </a:solidFill>
          <a:ln w="12700">
            <a:solidFill>
              <a:srgbClr val="9C27B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175504" y="2651760"/>
            <a:ext cx="11704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4</a:t>
            </a:r>
            <a:endParaRPr lang="en-US" sz="850" dirty="0"/>
          </a:p>
        </p:txBody>
      </p:sp>
      <p:sp>
        <p:nvSpPr>
          <p:cNvPr id="44" name="Text 42"/>
          <p:cNvSpPr/>
          <p:nvPr/>
        </p:nvSpPr>
        <p:spPr>
          <a:xfrm>
            <a:off x="5175504" y="2999232"/>
            <a:ext cx="11704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B5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 10–11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5175504" y="3401568"/>
            <a:ext cx="1170432" cy="13716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Grading &amp; AI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6400800" y="2651760"/>
            <a:ext cx="1170432" cy="2194560"/>
          </a:xfrm>
          <a:prstGeom prst="rect">
            <a:avLst/>
          </a:prstGeom>
          <a:solidFill>
            <a:srgbClr val="0E2040"/>
          </a:solidFill>
          <a:ln w="19050">
            <a:solidFill>
              <a:srgbClr val="E91E6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6400800" y="2651760"/>
            <a:ext cx="1170432" cy="292608"/>
          </a:xfrm>
          <a:prstGeom prst="rect">
            <a:avLst/>
          </a:prstGeom>
          <a:solidFill>
            <a:srgbClr val="E91E63"/>
          </a:solidFill>
          <a:ln w="12700">
            <a:solidFill>
              <a:srgbClr val="E91E63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400800" y="2651760"/>
            <a:ext cx="11704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5</a:t>
            </a:r>
            <a:endParaRPr lang="en-US" sz="850" dirty="0"/>
          </a:p>
        </p:txBody>
      </p:sp>
      <p:sp>
        <p:nvSpPr>
          <p:cNvPr id="49" name="Text 47"/>
          <p:cNvSpPr/>
          <p:nvPr/>
        </p:nvSpPr>
        <p:spPr>
          <a:xfrm>
            <a:off x="6400800" y="2999232"/>
            <a:ext cx="11704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B5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 12–13</a:t>
            </a:r>
            <a:endParaRPr lang="en-US" sz="800" dirty="0"/>
          </a:p>
        </p:txBody>
      </p:sp>
      <p:sp>
        <p:nvSpPr>
          <p:cNvPr id="50" name="Text 48"/>
          <p:cNvSpPr/>
          <p:nvPr/>
        </p:nvSpPr>
        <p:spPr>
          <a:xfrm>
            <a:off x="6400800" y="3401568"/>
            <a:ext cx="1170432" cy="13716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Forum &amp; Notif.</a:t>
            </a:r>
            <a:endParaRPr lang="en-US" sz="950" dirty="0"/>
          </a:p>
        </p:txBody>
      </p:sp>
      <p:sp>
        <p:nvSpPr>
          <p:cNvPr id="51" name="Shape 49"/>
          <p:cNvSpPr/>
          <p:nvPr/>
        </p:nvSpPr>
        <p:spPr>
          <a:xfrm>
            <a:off x="7626096" y="2651760"/>
            <a:ext cx="1170432" cy="2194560"/>
          </a:xfrm>
          <a:prstGeom prst="rect">
            <a:avLst/>
          </a:prstGeom>
          <a:solidFill>
            <a:srgbClr val="0E2040"/>
          </a:solidFill>
          <a:ln w="19050">
            <a:solidFill>
              <a:srgbClr val="00BCD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2" name="Shape 50"/>
          <p:cNvSpPr/>
          <p:nvPr/>
        </p:nvSpPr>
        <p:spPr>
          <a:xfrm>
            <a:off x="7626096" y="2651760"/>
            <a:ext cx="1170432" cy="292608"/>
          </a:xfrm>
          <a:prstGeom prst="rect">
            <a:avLst/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7626096" y="2651760"/>
            <a:ext cx="11704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6</a:t>
            </a:r>
            <a:endParaRPr lang="en-US" sz="850" dirty="0"/>
          </a:p>
        </p:txBody>
      </p:sp>
      <p:sp>
        <p:nvSpPr>
          <p:cNvPr id="54" name="Text 52"/>
          <p:cNvSpPr/>
          <p:nvPr/>
        </p:nvSpPr>
        <p:spPr>
          <a:xfrm>
            <a:off x="7626096" y="2999232"/>
            <a:ext cx="11704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B5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 13–14</a:t>
            </a:r>
            <a:endParaRPr lang="en-US" sz="800" dirty="0"/>
          </a:p>
        </p:txBody>
      </p:sp>
      <p:sp>
        <p:nvSpPr>
          <p:cNvPr id="55" name="Text 53"/>
          <p:cNvSpPr/>
          <p:nvPr/>
        </p:nvSpPr>
        <p:spPr>
          <a:xfrm>
            <a:off x="7626096" y="3401568"/>
            <a:ext cx="1170432" cy="13716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&amp; Test</a:t>
            </a:r>
            <a:endParaRPr lang="en-US" sz="950" dirty="0"/>
          </a:p>
        </p:txBody>
      </p:sp>
      <p:sp>
        <p:nvSpPr>
          <p:cNvPr id="56" name="Text 54"/>
          <p:cNvSpPr/>
          <p:nvPr/>
        </p:nvSpPr>
        <p:spPr>
          <a:xfrm>
            <a:off x="365760" y="4892040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90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Scrum-Kanban via GitHub Projects  •  Git Flow branching  •  CI/CD: Jenkins + Docker + Kubernetes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4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64B5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OUTLOOK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i="1" dirty="0">
                <a:solidFill>
                  <a:srgbClr val="0A16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Oralis-AI is not just a grading tool — it is the foundation of a new standard in oral education.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274320" y="1554480"/>
            <a:ext cx="2743200" cy="3291840"/>
          </a:xfrm>
          <a:prstGeom prst="rect">
            <a:avLst/>
          </a:prstGeom>
          <a:solidFill>
            <a:srgbClr val="FFFFFF"/>
          </a:solidFill>
          <a:ln w="25400">
            <a:solidFill>
              <a:srgbClr val="2196F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554480"/>
            <a:ext cx="2743200" cy="402336"/>
          </a:xfrm>
          <a:prstGeom prst="rect">
            <a:avLst/>
          </a:prstGeom>
          <a:solidFill>
            <a:srgbClr val="2196F3"/>
          </a:solidFill>
          <a:ln w="12700">
            <a:solidFill>
              <a:srgbClr val="2196F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1554480"/>
            <a:ext cx="2743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1</a:t>
            </a:r>
            <a:endParaRPr lang="en-US" sz="13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4048" y="2075688"/>
            <a:ext cx="237744" cy="237744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94944" y="2029968"/>
            <a:ext cx="223113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Multi-institution deployment across Tunisian universities</a:t>
            </a:r>
            <a:endParaRPr lang="en-US" sz="10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2990088"/>
            <a:ext cx="237744" cy="237744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694944" y="2944368"/>
            <a:ext cx="223113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Arabic and French language support</a:t>
            </a:r>
            <a:endParaRPr lang="en-US" sz="1000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4048" y="3904488"/>
            <a:ext cx="237744" cy="237744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694944" y="3858768"/>
            <a:ext cx="223113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CEFR-aligned oral proficiency benchmarks</a:t>
            </a:r>
            <a:endParaRPr lang="en-US" sz="1000" dirty="0"/>
          </a:p>
        </p:txBody>
      </p:sp>
      <p:sp>
        <p:nvSpPr>
          <p:cNvPr id="14" name="Shape 9"/>
          <p:cNvSpPr/>
          <p:nvPr/>
        </p:nvSpPr>
        <p:spPr>
          <a:xfrm>
            <a:off x="3200400" y="1554480"/>
            <a:ext cx="2743200" cy="3291840"/>
          </a:xfrm>
          <a:prstGeom prst="rect">
            <a:avLst/>
          </a:prstGeom>
          <a:solidFill>
            <a:srgbClr val="FFFFFF"/>
          </a:solidFill>
          <a:ln w="25400">
            <a:solidFill>
              <a:srgbClr val="9C27B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5" name="Shape 10"/>
          <p:cNvSpPr/>
          <p:nvPr/>
        </p:nvSpPr>
        <p:spPr>
          <a:xfrm>
            <a:off x="3200400" y="1554480"/>
            <a:ext cx="2743200" cy="402336"/>
          </a:xfrm>
          <a:prstGeom prst="rect">
            <a:avLst/>
          </a:prstGeom>
          <a:solidFill>
            <a:srgbClr val="9C27B0"/>
          </a:solidFill>
          <a:ln w="12700">
            <a:solidFill>
              <a:srgbClr val="9C27B0"/>
            </a:solidFill>
            <a:prstDash val="solid"/>
          </a:ln>
        </p:spPr>
      </p:sp>
      <p:sp>
        <p:nvSpPr>
          <p:cNvPr id="16" name="Text 11"/>
          <p:cNvSpPr/>
          <p:nvPr/>
        </p:nvSpPr>
        <p:spPr>
          <a:xfrm>
            <a:off x="3200400" y="1554480"/>
            <a:ext cx="2743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2–3</a:t>
            </a:r>
            <a:endParaRPr lang="en-US" sz="1300" dirty="0"/>
          </a:p>
        </p:txBody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10128" y="2075688"/>
            <a:ext cx="237744" cy="237744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3621024" y="2029968"/>
            <a:ext cx="223113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oral exam proctoring with real-time AI feedback</a:t>
            </a:r>
            <a:endParaRPr lang="en-US" sz="1000" dirty="0"/>
          </a:p>
        </p:txBody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10128" y="2990088"/>
            <a:ext cx="237744" cy="237744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3621024" y="2944368"/>
            <a:ext cx="223113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Employer-facing skill certificates for graduates</a:t>
            </a:r>
            <a:endParaRPr lang="en-US" sz="1000" dirty="0"/>
          </a:p>
        </p:txBody>
      </p:sp>
      <p:pic>
        <p:nvPicPr>
          <p:cNvPr id="2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310128" y="3904488"/>
            <a:ext cx="237744" cy="237744"/>
          </a:xfrm>
          <a:prstGeom prst="rect">
            <a:avLst/>
          </a:prstGeom>
        </p:spPr>
      </p:pic>
      <p:sp>
        <p:nvSpPr>
          <p:cNvPr id="22" name="Text 14"/>
          <p:cNvSpPr/>
          <p:nvPr/>
        </p:nvSpPr>
        <p:spPr>
          <a:xfrm>
            <a:off x="3621024" y="3858768"/>
            <a:ext cx="223113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National oral assessment data insights for policymakers</a:t>
            </a:r>
            <a:endParaRPr lang="en-US" sz="1000" dirty="0"/>
          </a:p>
        </p:txBody>
      </p:sp>
      <p:sp>
        <p:nvSpPr>
          <p:cNvPr id="23" name="Shape 15"/>
          <p:cNvSpPr/>
          <p:nvPr/>
        </p:nvSpPr>
        <p:spPr>
          <a:xfrm>
            <a:off x="6126480" y="1554480"/>
            <a:ext cx="2743200" cy="3291840"/>
          </a:xfrm>
          <a:prstGeom prst="rect">
            <a:avLst/>
          </a:prstGeom>
          <a:solidFill>
            <a:srgbClr val="FFFFFF"/>
          </a:solidFill>
          <a:ln w="25400">
            <a:solidFill>
              <a:srgbClr val="FFD54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4" name="Shape 16"/>
          <p:cNvSpPr/>
          <p:nvPr/>
        </p:nvSpPr>
        <p:spPr>
          <a:xfrm>
            <a:off x="6126480" y="1554480"/>
            <a:ext cx="2743200" cy="402336"/>
          </a:xfrm>
          <a:prstGeom prst="rect">
            <a:avLst/>
          </a:prstGeom>
          <a:solidFill>
            <a:srgbClr val="FFD54F"/>
          </a:solidFill>
          <a:ln w="12700">
            <a:solidFill>
              <a:srgbClr val="FFD54F"/>
            </a:solidFill>
            <a:prstDash val="solid"/>
          </a:ln>
        </p:spPr>
      </p:sp>
      <p:sp>
        <p:nvSpPr>
          <p:cNvPr id="25" name="Text 17"/>
          <p:cNvSpPr/>
          <p:nvPr/>
        </p:nvSpPr>
        <p:spPr>
          <a:xfrm>
            <a:off x="6126480" y="1554480"/>
            <a:ext cx="2743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5+</a:t>
            </a:r>
            <a:endParaRPr lang="en-US" sz="1300" dirty="0"/>
          </a:p>
        </p:txBody>
      </p:sp>
      <p:pic>
        <p:nvPicPr>
          <p:cNvPr id="26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36208" y="2075688"/>
            <a:ext cx="237744" cy="237744"/>
          </a:xfrm>
          <a:prstGeom prst="rect">
            <a:avLst/>
          </a:prstGeom>
        </p:spPr>
      </p:pic>
      <p:sp>
        <p:nvSpPr>
          <p:cNvPr id="27" name="Text 18"/>
          <p:cNvSpPr/>
          <p:nvPr/>
        </p:nvSpPr>
        <p:spPr>
          <a:xfrm>
            <a:off x="6547104" y="2029968"/>
            <a:ext cx="223113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Pan-African EdTech platform for oral skill development</a:t>
            </a:r>
            <a:endParaRPr lang="en-US" sz="1000" dirty="0"/>
          </a:p>
        </p:txBody>
      </p:sp>
      <p:pic>
        <p:nvPicPr>
          <p:cNvPr id="28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36208" y="2990088"/>
            <a:ext cx="237744" cy="237744"/>
          </a:xfrm>
          <a:prstGeom prst="rect">
            <a:avLst/>
          </a:prstGeom>
        </p:spPr>
      </p:pic>
      <p:sp>
        <p:nvSpPr>
          <p:cNvPr id="29" name="Text 19"/>
          <p:cNvSpPr/>
          <p:nvPr/>
        </p:nvSpPr>
        <p:spPr>
          <a:xfrm>
            <a:off x="6547104" y="2944368"/>
            <a:ext cx="223113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 partnerships for job-readiness assessment</a:t>
            </a:r>
            <a:endParaRPr lang="en-US" sz="1000" dirty="0"/>
          </a:p>
        </p:txBody>
      </p:sp>
      <p:pic>
        <p:nvPicPr>
          <p:cNvPr id="30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236208" y="3904488"/>
            <a:ext cx="237744" cy="237744"/>
          </a:xfrm>
          <a:prstGeom prst="rect">
            <a:avLst/>
          </a:prstGeom>
        </p:spPr>
      </p:pic>
      <p:sp>
        <p:nvSpPr>
          <p:cNvPr id="31" name="Text 20"/>
          <p:cNvSpPr/>
          <p:nvPr/>
        </p:nvSpPr>
        <p:spPr>
          <a:xfrm>
            <a:off x="6547104" y="3858768"/>
            <a:ext cx="223113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Research-grade data corpus for speech AI in MENA region</a:t>
            </a:r>
            <a:endParaRPr lang="en-US" sz="1000" dirty="0"/>
          </a:p>
        </p:txBody>
      </p:sp>
      <p:sp>
        <p:nvSpPr>
          <p:cNvPr id="32" name="Shape 21"/>
          <p:cNvSpPr/>
          <p:nvPr/>
        </p:nvSpPr>
        <p:spPr>
          <a:xfrm>
            <a:off x="0" y="4754880"/>
            <a:ext cx="9144000" cy="365760"/>
          </a:xfrm>
          <a:prstGeom prst="rect">
            <a:avLst/>
          </a:prstGeom>
          <a:solidFill>
            <a:srgbClr val="2196F3"/>
          </a:solidFill>
          <a:ln w="12700">
            <a:solidFill>
              <a:srgbClr val="2196F3"/>
            </a:solidFill>
            <a:prstDash val="solid"/>
          </a:ln>
        </p:spPr>
      </p:sp>
      <p:sp>
        <p:nvSpPr>
          <p:cNvPr id="33" name="Text 22"/>
          <p:cNvSpPr/>
          <p:nvPr/>
        </p:nvSpPr>
        <p:spPr>
          <a:xfrm>
            <a:off x="365760" y="4773168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adopters gain a decisive advantage. Those who wait will find the standard already set.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914400"/>
            <a:ext cx="4572000" cy="4572000"/>
          </a:xfrm>
          <a:prstGeom prst="ellipse">
            <a:avLst/>
          </a:prstGeom>
          <a:solidFill>
            <a:srgbClr val="2196F3">
              <a:alpha val="12000"/>
            </a:srgbClr>
          </a:solidFill>
          <a:ln w="12700">
            <a:solidFill>
              <a:srgbClr val="2196F3">
                <a:alpha val="2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3200400"/>
            <a:ext cx="2743200" cy="2743200"/>
          </a:xfrm>
          <a:prstGeom prst="ellipse">
            <a:avLst/>
          </a:prstGeom>
          <a:solidFill>
            <a:srgbClr val="64B5F6">
              <a:alpha val="10000"/>
            </a:srgbClr>
          </a:solidFill>
          <a:ln w="12700">
            <a:solidFill>
              <a:srgbClr val="64B5F6">
                <a:alpha val="2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2196F3"/>
          </a:solidFill>
          <a:ln w="12700">
            <a:solidFill>
              <a:srgbClr val="2196F3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0" y="365760"/>
            <a:ext cx="1920240" cy="19202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502920"/>
            <a:ext cx="6583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Future of Oral Assessment</a:t>
            </a:r>
            <a:endParaRPr lang="en-US" sz="2600" dirty="0"/>
          </a:p>
        </p:txBody>
      </p:sp>
      <p:sp>
        <p:nvSpPr>
          <p:cNvPr id="7" name="Text 4"/>
          <p:cNvSpPr/>
          <p:nvPr/>
        </p:nvSpPr>
        <p:spPr>
          <a:xfrm>
            <a:off x="457200" y="1097280"/>
            <a:ext cx="6583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D5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Starts Here.</a:t>
            </a:r>
            <a:endParaRPr lang="en-US" sz="26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920240"/>
            <a:ext cx="274320" cy="27432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822960" y="1883664"/>
            <a:ext cx="7955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B5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Real, actionable feedback for every student — at scale</a:t>
            </a:r>
            <a:endParaRPr lang="en-US" sz="125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487168"/>
            <a:ext cx="274320" cy="27432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822960" y="2450592"/>
            <a:ext cx="7955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B5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Objective, consistent, and bias-free evaluation</a:t>
            </a:r>
            <a:endParaRPr lang="en-US" sz="125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3054096"/>
            <a:ext cx="274320" cy="27432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822960" y="3017520"/>
            <a:ext cx="7955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B5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Empowers instructors without replacing their judgment</a:t>
            </a:r>
            <a:endParaRPr lang="en-US" sz="1250" dirty="0"/>
          </a:p>
        </p:txBody>
      </p:sp>
      <p:pic>
        <p:nvPicPr>
          <p:cNvPr id="1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3621024"/>
            <a:ext cx="274320" cy="274320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822960" y="3584448"/>
            <a:ext cx="7955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B5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for Tunisia — scalable for the region and beyond</a:t>
            </a:r>
            <a:endParaRPr lang="en-US" sz="1250" dirty="0"/>
          </a:p>
        </p:txBody>
      </p:sp>
      <p:sp>
        <p:nvSpPr>
          <p:cNvPr id="16" name="Shape 9"/>
          <p:cNvSpPr/>
          <p:nvPr/>
        </p:nvSpPr>
        <p:spPr>
          <a:xfrm>
            <a:off x="365760" y="4160520"/>
            <a:ext cx="8412480" cy="804672"/>
          </a:xfrm>
          <a:prstGeom prst="rect">
            <a:avLst/>
          </a:prstGeom>
          <a:solidFill>
            <a:srgbClr val="2196F3"/>
          </a:solidFill>
          <a:ln w="12700">
            <a:solidFill>
              <a:srgbClr val="2196F3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7" name="Text 10"/>
          <p:cNvSpPr/>
          <p:nvPr/>
        </p:nvSpPr>
        <p:spPr>
          <a:xfrm>
            <a:off x="457200" y="4178808"/>
            <a:ext cx="82296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 us in building a smarter, fairer way to develop oral excellence.</a:t>
            </a:r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|  </a:t>
            </a:r>
            <a:pPr algn="ctr" indent="0" marL="0">
              <a:buNone/>
            </a:pPr>
            <a:r>
              <a:rPr lang="en-US" sz="1300" b="1" dirty="0">
                <a:solidFill>
                  <a:srgbClr val="FFD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BuildDream — Oralis-AI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Oralis-AI – IDEA PITCH</dc:title>
  <dc:subject>PptxGenJS Presentation</dc:subject>
  <dc:creator>BuildDream</dc:creator>
  <cp:lastModifiedBy>BuildDream</cp:lastModifiedBy>
  <cp:revision>1</cp:revision>
  <dcterms:created xsi:type="dcterms:W3CDTF">2026-04-02T08:04:39Z</dcterms:created>
  <dcterms:modified xsi:type="dcterms:W3CDTF">2026-04-02T08:04:39Z</dcterms:modified>
</cp:coreProperties>
</file>